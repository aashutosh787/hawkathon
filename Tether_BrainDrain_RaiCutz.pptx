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 Index</c:v>
                </c:pt>
              </c:strCache>
            </c:strRef>
          </c:tx>
          <c:spPr>
            <a:solidFill>
              <a:srgbClr val="1C4E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2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Nashville</c:v>
                  </c:pt>
                  <c:pt idx="1">
                    <c:v>Atlanta, GA</c:v>
                  </c:pt>
                  <c:pt idx="2">
                    <c:v>Dallas, TX</c:v>
                  </c:pt>
                  <c:pt idx="3">
                    <c:v>Houston, TX</c:v>
                  </c:pt>
                  <c:pt idx="4">
                    <c:v>Baton Rouge</c:v>
                  </c:pt>
                  <c:pt idx="5">
                    <c:v>Monroe, LA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109</c:v>
                </c:pt>
                <c:pt idx="1">
                  <c:v>107</c:v>
                </c:pt>
                <c:pt idx="2">
                  <c:v>103</c:v>
                </c:pt>
                <c:pt idx="3">
                  <c:v>95</c:v>
                </c:pt>
                <c:pt idx="4">
                  <c:v>95</c:v>
                </c:pt>
                <c:pt idx="5">
                  <c:v>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F2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70"/>
        </c:scaling>
        <c:delete val="0"/>
        <c:axPos val="b"/>
        <c:majorGridlines>
          <c:spPr>
            <a:ln w="6350" cap="flat">
              <a:solidFill>
                <a:srgbClr val="DCD1B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 GDSC HAWKATHON 2026  ·  TEAM RAICUTZ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Tether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5EB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Keeping Louisiana's talent in Louisiana.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1097280" cy="36576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118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career agent built in Monroe, for Monroe — helping ULM students find real local jobs, real recruiter contacts, and real reasons to stay home.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394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RaiCutz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Khawas   ·   Arhyael Zoaka   ·   Aashutosh Khanal   ·   Aayush Rai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Louisiana at Monroe  ·  April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91295" y="1645920"/>
            <a:ext cx="2560320" cy="2560320"/>
          </a:xfrm>
          <a:prstGeom prst="ellipse">
            <a:avLst/>
          </a:prstGeom>
          <a:solidFill>
            <a:srgbClr val="1C4E52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57055" y="2011680"/>
            <a:ext cx="1828800" cy="1828800"/>
          </a:xfrm>
          <a:prstGeom prst="ellipse">
            <a:avLst/>
          </a:prstGeom>
          <a:solidFill>
            <a:srgbClr val="2E8B8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2377440"/>
            <a:ext cx="822960" cy="10972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808415" y="4343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MONROE, LA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Louisiana is losing its best minds.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two decades, the same story has repeated: talented graduates earn their degrees here — and then leave. The numbers are brutal.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6568" y="228600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6568" y="2286000"/>
            <a:ext cx="3566160" cy="109728"/>
          </a:xfrm>
          <a:prstGeom prst="rect">
            <a:avLst/>
          </a:prstGeom>
          <a:solidFill>
            <a:srgbClr val="B8552C"/>
          </a:solidFill>
          <a:ln w="12700">
            <a:solidFill>
              <a:srgbClr val="B855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0888" y="2651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B8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00888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 OF COLLEGE GRADS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0888" y="4279392"/>
            <a:ext cx="457200" cy="2743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888" y="4389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Louisiana ranked 4th-worst in the nation for losing college-educated adults in 2023.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2768" y="228600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2768" y="2286000"/>
            <a:ext cx="3566160" cy="109728"/>
          </a:xfrm>
          <a:prstGeom prst="rect">
            <a:avLst/>
          </a:prstGeom>
          <a:solidFill>
            <a:srgbClr val="B8552C"/>
          </a:solidFill>
          <a:ln w="12700">
            <a:solidFill>
              <a:srgbClr val="B855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7088" y="2651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B8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110K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587088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GRADS LOST SINCE 2000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87088" y="4279392"/>
            <a:ext cx="457200" cy="2743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7088" y="4389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21 years, Louisiana has experienced a net loss of roughly 110,000 college-educated people.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98968" y="228600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98968" y="2286000"/>
            <a:ext cx="3566160" cy="109728"/>
          </a:xfrm>
          <a:prstGeom prst="rect">
            <a:avLst/>
          </a:prstGeom>
          <a:solidFill>
            <a:srgbClr val="B8552C"/>
          </a:solidFill>
          <a:ln w="12700">
            <a:solidFill>
              <a:srgbClr val="B855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73288" y="2651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B85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317K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8473288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LOST (2005–2020)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73288" y="4279392"/>
            <a:ext cx="457200" cy="2743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3288" y="4389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Louisiana's nine largest metros shed a net 317,500 residents — with Texas as the top destination.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6235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van Lines Move 2025 Study · Red River Radio (Dr. Gary Wagner, UL Lafayette) · Manship School News Service · Louisiana Illuminator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C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“They can't see a future with Louisiana.”  — A former LA grad, now in Texas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  ·  Keeping Talent in Northeast Louisiana  ·  Team RaiCutz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We've watched our friends pack up and leave.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577840" cy="4343400"/>
          </a:xfrm>
          <a:prstGeom prst="rect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109728" cy="43434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FIRST-HAND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graduates we know don't want to leave.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5120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5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ULM students ourselves, we've watched classmate after classmate — seniors we studied with, worked with, laughed with — accept out-of-state offers within weeks of graduating.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5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they wanted to go. Because they couldn't find the right path to stay.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5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semester we hear the same sentence: “I'd love to stay in Monroe, but there's just nothing for me here.”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5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sentence is what Tether exists to 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920240"/>
            <a:ext cx="5029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2194560"/>
            <a:ext cx="822960" cy="822960"/>
          </a:xfrm>
          <a:prstGeom prst="ellipse">
            <a:avLst/>
          </a:prstGeom>
          <a:solidFill>
            <a:srgbClr val="CFE3E2"/>
          </a:solidFill>
          <a:ln w="12700">
            <a:solidFill>
              <a:srgbClr val="CFE3E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88" y="2350008"/>
            <a:ext cx="512064" cy="5120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80960" y="212140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assume opportunity lives elsewhere.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80960" y="257860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believe real jobs, real mentors, and real careers only exist in Dallas, Houston, or Atlanta — because nobody shows them otherwise.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92240" y="3401568"/>
            <a:ext cx="5029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20840" y="3675888"/>
            <a:ext cx="822960" cy="822960"/>
          </a:xfrm>
          <a:prstGeom prst="ellipse">
            <a:avLst/>
          </a:prstGeom>
          <a:solidFill>
            <a:srgbClr val="CFE3E2"/>
          </a:solidFill>
          <a:ln w="12700">
            <a:solidFill>
              <a:srgbClr val="CFE3E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3831336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80960" y="360273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jobs are invisible.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680960" y="405993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Monroe-area openings are scattered across a dozen sites. No central feed. No recruiter directory. Seniors give up before they find them.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492240" y="4882896"/>
            <a:ext cx="5029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720840" y="5157216"/>
            <a:ext cx="822960" cy="822960"/>
          </a:xfrm>
          <a:prstGeom prst="ellipse">
            <a:avLst/>
          </a:prstGeom>
          <a:solidFill>
            <a:srgbClr val="CFE3E2"/>
          </a:solidFill>
          <a:ln w="12700">
            <a:solidFill>
              <a:srgbClr val="CFE3E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5312664"/>
            <a:ext cx="512064" cy="5120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680960" y="508406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leave, then their families follow.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680960" y="554126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and grandparents retire out of state to stay close to their kids. One graduate leaving is rarely just one person lost.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  ·  Keeping Talent in Northeast Louisiana  ·  Team RaiCutz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85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gets left behind.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is not just a paycheck. Behind every graduate who leaves is a Sunday dinner that stops happening, a church pew that empties, a community that slowly thins. Louisiana is losing more than workers — it's losing the people who make it home.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728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06040"/>
            <a:ext cx="91440" cy="18288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260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880360"/>
            <a:ext cx="399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783080" y="3429000"/>
            <a:ext cx="3992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 that raised you shaped how you think, how you work, how you show up. You don't owe it forever — but leaving before you give it a chance is a loss worth pausing 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2606040"/>
            <a:ext cx="52728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78728" y="2606040"/>
            <a:ext cx="91440" cy="18288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8" y="292608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21728" y="2880360"/>
            <a:ext cx="399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421728" y="3429000"/>
            <a:ext cx="3992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ULM graduate has a parent, sibling, or grandparent within driving distance. Sunday lunches. Emergency calls. The small moments you can't FaceTime back.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709160"/>
            <a:ext cx="52728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4709160"/>
            <a:ext cx="91440" cy="18288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02920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983480"/>
            <a:ext cx="399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1783080" y="5532120"/>
            <a:ext cx="3992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teachers, coaches, pastors, and neighbors who invested in you don't get a return when you leave. They get a text every six months, if that.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78728" y="4709160"/>
            <a:ext cx="52728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78728" y="4709160"/>
            <a:ext cx="91440" cy="18288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68" y="5029200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21728" y="4983480"/>
            <a:ext cx="399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Roots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7421728" y="5532120"/>
            <a:ext cx="3992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Louisiana culture — food, music, language, weather, people — doesn't replicate in Dallas or Atlanta. Most grads don't realize this until they've already left.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  ·  Keeping Talent in Northeast Louisiana  ·  Team RaiCutz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LOGICAL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actually favors staying.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assume leaving pays off. The data says the opposite for most early-career salaries: Monroe keeps more money in your pocket than the cities pulling our classmates away.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577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living vs. U.S. average (100)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cheaper.  Based on BestPlaces &amp; AreaVibes indices.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3063240"/>
          <a:ext cx="521208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492240" y="2240280"/>
            <a:ext cx="239252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688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0" y="3017520"/>
            <a:ext cx="2026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~$189K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6720840" y="3566160"/>
            <a:ext cx="193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Monroe median home price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720840" y="3813048"/>
            <a:ext cx="1935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~$370K national average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9159088" y="2240280"/>
            <a:ext cx="239252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688" y="24688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41968" y="3017520"/>
            <a:ext cx="2026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9387688" y="3566160"/>
            <a:ext cx="193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commute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387688" y="3813048"/>
            <a:ext cx="1935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45+ in Dallas or Atlanta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492240" y="4343400"/>
            <a:ext cx="239252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57200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75120" y="5120640"/>
            <a:ext cx="2026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0.52%</a:t>
            </a:r>
            <a:endParaRPr lang="en-US" sz="3400" dirty="0"/>
          </a:p>
        </p:txBody>
      </p:sp>
      <p:sp>
        <p:nvSpPr>
          <p:cNvPr id="22" name="Text 16"/>
          <p:cNvSpPr/>
          <p:nvPr/>
        </p:nvSpPr>
        <p:spPr>
          <a:xfrm>
            <a:off x="6720840" y="5669280"/>
            <a:ext cx="193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tax rate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720840" y="5916168"/>
            <a:ext cx="1935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lowest in the country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159088" y="4343400"/>
            <a:ext cx="239252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688" y="457200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41968" y="5120640"/>
            <a:ext cx="2026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3400" dirty="0"/>
          </a:p>
        </p:txBody>
      </p:sp>
      <p:sp>
        <p:nvSpPr>
          <p:cNvPr id="27" name="Text 20"/>
          <p:cNvSpPr/>
          <p:nvPr/>
        </p:nvSpPr>
        <p:spPr>
          <a:xfrm>
            <a:off x="9387688" y="5669280"/>
            <a:ext cx="193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housing cost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387688" y="5916168"/>
            <a:ext cx="1935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the U.S. average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  ·  Keeping Talent in Northeast Louisiana  ·  Team RaiCutz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Tether — making staying the easier choice.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D4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career agent built specifically for Monroe.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943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 reads your resume, surfaces every Monroe-area job that matches your background, finds the real HR contacts behind those jobs, writes the cold emails for you, and sends them from your Gmail — in a single click.</a:t>
            </a:r>
            <a:endParaRPr lang="en-US" sz="1400" dirty="0"/>
          </a:p>
          <a:p>
            <a:pPr algn="l" indent="0" marL="0">
              <a:lnSpc>
                <a:spcPct val="145000"/>
              </a:lnSpc>
              <a:buNone/>
            </a:pPr>
            <a:endParaRPr lang="en-US" sz="14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pipeline that normally takes a senior three days of work happens in under five minutes. We don't convince students to stay. We remove every excuse they had to leave.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5394960"/>
            <a:ext cx="1828800" cy="1005840"/>
          </a:xfrm>
          <a:prstGeom prst="rect">
            <a:avLst/>
          </a:prstGeom>
          <a:solidFill>
            <a:srgbClr val="1C4E52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440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outreach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5394960"/>
            <a:ext cx="1828800" cy="1005840"/>
          </a:xfrm>
          <a:prstGeom prst="rect">
            <a:avLst/>
          </a:prstGeom>
          <a:solidFill>
            <a:srgbClr val="1C4E52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5440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7480" y="5989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to NE LA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5394960"/>
            <a:ext cx="1828800" cy="1005840"/>
          </a:xfrm>
          <a:prstGeom prst="rect">
            <a:avLst/>
          </a:prstGeom>
          <a:solidFill>
            <a:srgbClr val="1C4E52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5440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5989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started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1417320"/>
            <a:ext cx="44805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23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417320"/>
            <a:ext cx="4480560" cy="502920"/>
          </a:xfrm>
          <a:prstGeom prst="rect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1600200"/>
            <a:ext cx="137160" cy="137160"/>
          </a:xfrm>
          <a:prstGeom prst="ellipse">
            <a:avLst/>
          </a:prstGeom>
          <a:solidFill>
            <a:srgbClr val="E06C6C"/>
          </a:solidFill>
          <a:ln w="12700">
            <a:solidFill>
              <a:srgbClr val="E06C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1600200"/>
            <a:ext cx="137160" cy="137160"/>
          </a:xfrm>
          <a:prstGeom prst="ellipse">
            <a:avLst/>
          </a:prstGeom>
          <a:solidFill>
            <a:srgbClr val="E0C26C"/>
          </a:solidFill>
          <a:ln w="12700">
            <a:solidFill>
              <a:srgbClr val="E0C2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5240" y="1600200"/>
            <a:ext cx="137160" cy="137160"/>
          </a:xfrm>
          <a:prstGeom prst="ellipse">
            <a:avLst/>
          </a:prstGeom>
          <a:solidFill>
            <a:srgbClr val="7BC47F"/>
          </a:solidFill>
          <a:ln w="12700">
            <a:solidFill>
              <a:srgbClr val="7BC4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1417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tether.app / dashboard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69480" y="2103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 matched for you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69480" y="2404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new · Monroe, LA area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69480" y="2788920"/>
            <a:ext cx="4023360" cy="621792"/>
          </a:xfrm>
          <a:prstGeom prst="rect">
            <a:avLst/>
          </a:prstGeom>
          <a:solidFill>
            <a:srgbClr val="FBF7EE"/>
          </a:solidFill>
          <a:ln w="6350">
            <a:solidFill>
              <a:srgbClr val="DCD1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2788920"/>
            <a:ext cx="73152" cy="62179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843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52360" y="3118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CenturyLink (Lumen) · Monroe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744200" y="2953512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44200" y="2953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9480" y="3502152"/>
            <a:ext cx="4023360" cy="621792"/>
          </a:xfrm>
          <a:prstGeom prst="rect">
            <a:avLst/>
          </a:prstGeom>
          <a:solidFill>
            <a:srgbClr val="FBF7EE"/>
          </a:solidFill>
          <a:ln w="6350">
            <a:solidFill>
              <a:srgbClr val="DCD1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69480" y="3502152"/>
            <a:ext cx="73152" cy="62179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3557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52360" y="3831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Packaging · West Monroe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744200" y="3666744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44200" y="366674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69480" y="4215384"/>
            <a:ext cx="4023360" cy="621792"/>
          </a:xfrm>
          <a:prstGeom prst="rect">
            <a:avLst/>
          </a:prstGeom>
          <a:solidFill>
            <a:srgbClr val="FBF7EE"/>
          </a:solidFill>
          <a:ln w="6350">
            <a:solidFill>
              <a:srgbClr val="DCD1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9480" y="4215384"/>
            <a:ext cx="73152" cy="62179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4270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Jr. Marketing Associate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52360" y="4544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 Health Plan · Monroe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744200" y="4379976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44200" y="437997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69480" y="4928616"/>
            <a:ext cx="4023360" cy="621792"/>
          </a:xfrm>
          <a:prstGeom prst="rect">
            <a:avLst/>
          </a:prstGeom>
          <a:solidFill>
            <a:srgbClr val="FBF7EE"/>
          </a:solidFill>
          <a:ln w="6350">
            <a:solidFill>
              <a:srgbClr val="DCD1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69480" y="4928616"/>
            <a:ext cx="73152" cy="62179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52360" y="4983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Specialist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52360" y="5257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 · Monroe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744200" y="5093208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44200" y="509320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  ·  Keeping Talent in Northeast Louisiana  ·  Team RaiCutz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steps from resume to recruiter.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99427" cy="3794760"/>
          </a:xfrm>
          <a:prstGeom prst="rect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1999427" cy="128016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182594" y="3063240"/>
            <a:ext cx="914400" cy="914400"/>
          </a:xfrm>
          <a:prstGeom prst="ellipse">
            <a:avLst/>
          </a:prstGeom>
          <a:solidFill>
            <a:srgbClr val="2E8B8F"/>
          </a:solidFill>
          <a:ln w="12700">
            <a:solidFill>
              <a:srgbClr val="D4A2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194" y="32918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4114800"/>
            <a:ext cx="18165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Resume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411194" y="4663440"/>
            <a:ext cx="457200" cy="2743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800600"/>
            <a:ext cx="163366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drop your PDF. Claude reads it and builds your profile instantly.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868107" y="2103120"/>
            <a:ext cx="1999427" cy="3794760"/>
          </a:xfrm>
          <a:prstGeom prst="rect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68107" y="2103120"/>
            <a:ext cx="1999427" cy="128016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68107" y="237744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3410621" y="3063240"/>
            <a:ext cx="914400" cy="914400"/>
          </a:xfrm>
          <a:prstGeom prst="ellipse">
            <a:avLst/>
          </a:prstGeom>
          <a:solidFill>
            <a:srgbClr val="2E8B8F"/>
          </a:solidFill>
          <a:ln w="12700">
            <a:solidFill>
              <a:srgbClr val="D4A23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221" y="329184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59547" y="4114800"/>
            <a:ext cx="18165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 Jobs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639221" y="4663440"/>
            <a:ext cx="457200" cy="2743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050987" y="4800600"/>
            <a:ext cx="163366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scrapes Indeed, LinkedIn &amp; ZipRecruiter for Monroe-area roles that match.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096134" y="2103120"/>
            <a:ext cx="1999427" cy="3794760"/>
          </a:xfrm>
          <a:prstGeom prst="rect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96134" y="2103120"/>
            <a:ext cx="1999427" cy="128016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96134" y="237744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3" name="Shape 19"/>
          <p:cNvSpPr/>
          <p:nvPr/>
        </p:nvSpPr>
        <p:spPr>
          <a:xfrm>
            <a:off x="5638648" y="3063240"/>
            <a:ext cx="914400" cy="914400"/>
          </a:xfrm>
          <a:prstGeom prst="ellipse">
            <a:avLst/>
          </a:prstGeom>
          <a:solidFill>
            <a:srgbClr val="2E8B8F"/>
          </a:solidFill>
          <a:ln w="12700">
            <a:solidFill>
              <a:srgbClr val="D4A23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329184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87574" y="4114800"/>
            <a:ext cx="18165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Contacts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5867248" y="4663440"/>
            <a:ext cx="457200" cy="2743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279014" y="4800600"/>
            <a:ext cx="163366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 surfaces HR managers and recruiters at each local company — no cold searching.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324161" y="2103120"/>
            <a:ext cx="1999427" cy="3794760"/>
          </a:xfrm>
          <a:prstGeom prst="rect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324161" y="2103120"/>
            <a:ext cx="1999427" cy="128016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324161" y="237744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31" name="Shape 26"/>
          <p:cNvSpPr/>
          <p:nvPr/>
        </p:nvSpPr>
        <p:spPr>
          <a:xfrm>
            <a:off x="7866675" y="3063240"/>
            <a:ext cx="914400" cy="914400"/>
          </a:xfrm>
          <a:prstGeom prst="ellipse">
            <a:avLst/>
          </a:prstGeom>
          <a:solidFill>
            <a:srgbClr val="2E8B8F"/>
          </a:solidFill>
          <a:ln w="12700">
            <a:solidFill>
              <a:srgbClr val="D4A23C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275" y="329184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15601" y="4114800"/>
            <a:ext cx="18165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 Emails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8095275" y="4663440"/>
            <a:ext cx="457200" cy="2743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507041" y="4800600"/>
            <a:ext cx="163366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a personalized cold email using your resume, the role, and the recruiter.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9552188" y="2103120"/>
            <a:ext cx="1999427" cy="3794760"/>
          </a:xfrm>
          <a:prstGeom prst="rect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552188" y="2103120"/>
            <a:ext cx="1999427" cy="128016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9552188" y="237744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39" name="Shape 33"/>
          <p:cNvSpPr/>
          <p:nvPr/>
        </p:nvSpPr>
        <p:spPr>
          <a:xfrm>
            <a:off x="10094702" y="3063240"/>
            <a:ext cx="914400" cy="914400"/>
          </a:xfrm>
          <a:prstGeom prst="ellipse">
            <a:avLst/>
          </a:prstGeom>
          <a:solidFill>
            <a:srgbClr val="2E8B8F"/>
          </a:solidFill>
          <a:ln w="12700">
            <a:solidFill>
              <a:srgbClr val="D4A23C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302" y="3291840"/>
            <a:ext cx="457200" cy="4572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43628" y="4114800"/>
            <a:ext cx="18165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Auto-Send</a:t>
            </a:r>
            <a:endParaRPr lang="en-US" sz="1600" dirty="0"/>
          </a:p>
        </p:txBody>
      </p:sp>
      <p:sp>
        <p:nvSpPr>
          <p:cNvPr id="42" name="Shape 35"/>
          <p:cNvSpPr/>
          <p:nvPr/>
        </p:nvSpPr>
        <p:spPr>
          <a:xfrm>
            <a:off x="10323302" y="4663440"/>
            <a:ext cx="457200" cy="2743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9735068" y="4800600"/>
            <a:ext cx="163366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click. Every email goes out from your Gmail with your real signature.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“I don't know where to start” to “I have 10 emails in recruiter inboxes” — in under five minutes.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  ·  Keeping Talent in Northeast Louisiana  ·  Team RaiCutz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Production-grade, open source, shipped in 36 hours.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5643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57400"/>
            <a:ext cx="2556434" cy="73152"/>
          </a:xfrm>
          <a:prstGeom prst="rect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1097" y="2423160"/>
            <a:ext cx="914400" cy="914400"/>
          </a:xfrm>
          <a:prstGeom prst="ellipse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977" y="2606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474720"/>
            <a:ext cx="2373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689697" y="3931920"/>
            <a:ext cx="457200" cy="2743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069080"/>
            <a:ext cx="191635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25114" y="2057400"/>
            <a:ext cx="255643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5114" y="2057400"/>
            <a:ext cx="2556434" cy="73152"/>
          </a:xfrm>
          <a:prstGeom prst="rect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46131" y="2423160"/>
            <a:ext cx="914400" cy="914400"/>
          </a:xfrm>
          <a:prstGeom prst="ellipse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011" y="260604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16554" y="3474720"/>
            <a:ext cx="2373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474731" y="3931920"/>
            <a:ext cx="457200" cy="2743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45154" y="4069080"/>
            <a:ext cx="191635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aiosqlite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Fernet encryption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 rate limiting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10148" y="2057400"/>
            <a:ext cx="255643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0148" y="2057400"/>
            <a:ext cx="2556434" cy="73152"/>
          </a:xfrm>
          <a:prstGeom prst="rect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31165" y="2423160"/>
            <a:ext cx="914400" cy="914400"/>
          </a:xfrm>
          <a:prstGeom prst="ellipse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045" y="260604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1588" y="3474720"/>
            <a:ext cx="2373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Data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7259765" y="3931920"/>
            <a:ext cx="457200" cy="2743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530188" y="4069080"/>
            <a:ext cx="191635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python-jobspy (scraping)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(resume parsing)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contact gen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995181" y="2057400"/>
            <a:ext cx="255643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995181" y="2057400"/>
            <a:ext cx="2556434" cy="73152"/>
          </a:xfrm>
          <a:prstGeom prst="rect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816198" y="2423160"/>
            <a:ext cx="914400" cy="914400"/>
          </a:xfrm>
          <a:prstGeom prst="ellipse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9078" y="2606040"/>
            <a:ext cx="548640" cy="5486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086621" y="3474720"/>
            <a:ext cx="2373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10044798" y="3931920"/>
            <a:ext cx="457200" cy="2743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315221" y="4069080"/>
            <a:ext cx="191635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 (App Pwds)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Cookie-based sessions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hardened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Env-var secrets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  ·  Keeping Talent in Northeast Louisiana  ·  Team RaiCutz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even 1 in 10 ULM grads stay, the math changes.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852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 graduates roughly 1,500 students each year. If Tether helps just 10% find a path that keeps them in Louisiana, that's 150 young, educated professionals staying — every year.</a:t>
            </a:r>
            <a:endParaRPr lang="en-US" sz="1400" dirty="0"/>
          </a:p>
          <a:p>
            <a:pPr algn="l" indent="0" marL="0">
              <a:lnSpc>
                <a:spcPct val="145000"/>
              </a:lnSpc>
              <a:buNone/>
            </a:pPr>
            <a:endParaRPr lang="en-US" sz="14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decade: 1,500 graduates. A new startup scene. A tax base that stops shrinking. A Monroe where seniors don't assume leaving is the only option.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855464"/>
            <a:ext cx="109728" cy="109728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54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OAuth for verified recruiter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5221224"/>
            <a:ext cx="109728" cy="109728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1206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to Baton Rouge, Lafayette, Shreveport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5586984"/>
            <a:ext cx="109728" cy="109728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4864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 employer partnership pipeline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952744"/>
            <a:ext cx="109728" cy="109728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WhatsApp follow-up automation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0" y="1920240"/>
            <a:ext cx="4663440" cy="4389120"/>
          </a:xfrm>
          <a:prstGeom prst="rect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0" y="1920240"/>
            <a:ext cx="4663440" cy="128016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0" y="26974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4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12000" dirty="0"/>
          </a:p>
        </p:txBody>
      </p:sp>
      <p:sp>
        <p:nvSpPr>
          <p:cNvPr id="18" name="Text 16"/>
          <p:cNvSpPr/>
          <p:nvPr/>
        </p:nvSpPr>
        <p:spPr>
          <a:xfrm>
            <a:off x="7223760" y="4206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graduates / year, kept home.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23760" y="4754880"/>
            <a:ext cx="731520" cy="27432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4937760"/>
            <a:ext cx="3931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need to reverse Louisiana's brain drain overnight. We just need to prove that the best career move, for a lot of ULM grads, was always Monroe — and make it effortless to see.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  ·  Keeping Talent in Northeast Louisiana  ·  Team RaiCutz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ULM students. One refusal to leave.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outside observers. Every one of us is a current ULM student. Every one of us has classmates already packing for Texas. We built Tether because we refuse to be the next ones out.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556434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92517" y="2971800"/>
            <a:ext cx="1051560" cy="1051560"/>
          </a:xfrm>
          <a:prstGeom prst="ellipse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2517" y="2971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2282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George Khawas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507992"/>
            <a:ext cx="2282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89697" y="4800600"/>
            <a:ext cx="457200" cy="27432"/>
          </a:xfrm>
          <a:prstGeom prst="rect">
            <a:avLst/>
          </a:prstGeom>
          <a:solidFill>
            <a:srgbClr val="DCD1B6"/>
          </a:solidFill>
          <a:ln w="12700">
            <a:solidFill>
              <a:srgbClr val="DCD1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892040"/>
            <a:ext cx="2099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 · FastAPI routers · Database design · Auth &amp; security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5114" y="2697480"/>
            <a:ext cx="2556434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77551" y="2971800"/>
            <a:ext cx="1051560" cy="1051560"/>
          </a:xfrm>
          <a:prstGeom prst="ellipse">
            <a:avLst/>
          </a:prstGeom>
          <a:solidFill>
            <a:srgbClr val="2E8B8F"/>
          </a:solidFill>
          <a:ln w="12700">
            <a:solidFill>
              <a:srgbClr val="2E8B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77551" y="2971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562274" y="4160520"/>
            <a:ext cx="2282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Arhyael Zoaka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2274" y="4507992"/>
            <a:ext cx="2282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Automation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74731" y="4800600"/>
            <a:ext cx="457200" cy="27432"/>
          </a:xfrm>
          <a:prstGeom prst="rect">
            <a:avLst/>
          </a:prstGeom>
          <a:solidFill>
            <a:srgbClr val="DCD1B6"/>
          </a:solidFill>
          <a:ln w="12700">
            <a:solidFill>
              <a:srgbClr val="DCD1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3714" y="4892040"/>
            <a:ext cx="2099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integration · Automator pipeline · Email drafting · Outreach orchestration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0148" y="2697480"/>
            <a:ext cx="2556434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62585" y="2971800"/>
            <a:ext cx="1051560" cy="1051560"/>
          </a:xfrm>
          <a:prstGeom prst="ellipse">
            <a:avLst/>
          </a:prstGeom>
          <a:solidFill>
            <a:srgbClr val="B8552C"/>
          </a:solidFill>
          <a:ln w="12700">
            <a:solidFill>
              <a:srgbClr val="B855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2585" y="2971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347308" y="4160520"/>
            <a:ext cx="2282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Aashutosh Khanal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47308" y="4507992"/>
            <a:ext cx="2282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59765" y="4800600"/>
            <a:ext cx="457200" cy="27432"/>
          </a:xfrm>
          <a:prstGeom prst="rect">
            <a:avLst/>
          </a:prstGeom>
          <a:solidFill>
            <a:srgbClr val="DCD1B6"/>
          </a:solidFill>
          <a:ln w="12700">
            <a:solidFill>
              <a:srgbClr val="DCD1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8748" y="4892040"/>
            <a:ext cx="2099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 · Report tabs · Chat interface · Tailwind design system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95181" y="2697480"/>
            <a:ext cx="2556434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1B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47618" y="2971800"/>
            <a:ext cx="1051560" cy="1051560"/>
          </a:xfrm>
          <a:prstGeom prst="ellipse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47618" y="2971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9132341" y="4160520"/>
            <a:ext cx="2282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Aayush Rai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32341" y="4507992"/>
            <a:ext cx="2282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Job Search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044798" y="4800600"/>
            <a:ext cx="457200" cy="27432"/>
          </a:xfrm>
          <a:prstGeom prst="rect">
            <a:avLst/>
          </a:prstGeom>
          <a:solidFill>
            <a:srgbClr val="DCD1B6"/>
          </a:solidFill>
          <a:ln w="12700">
            <a:solidFill>
              <a:srgbClr val="DCD1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23781" y="4892040"/>
            <a:ext cx="2099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JobSpy integration · Contact generation · Scraping pipeline · Monroe job index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solidFill>
            <a:srgbClr val="1C4E52"/>
          </a:solidFill>
          <a:ln w="12700">
            <a:solidFill>
              <a:srgbClr val="1C4E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LOUISIANA MONROE  ·  GDSC ULM  ·  HAWKATHON 2026  ·  BUILT IN MONROE, FOR MONROE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  ·  Keeping Talent in Northeast Louisiana  ·  Team RaiCutz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887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D4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keep Louisiana's talent in Louisiana.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1097280" cy="36576"/>
          </a:xfrm>
          <a:prstGeom prst="rect">
            <a:avLst/>
          </a:prstGeom>
          <a:solidFill>
            <a:srgbClr val="D4A23C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886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4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github.com/Aashutosh787/Hawkathon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486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RAICUTZ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Khawas   ·   Arhyael Zoaka   ·   Aashutosh Khanal   ·   Aayush Rai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 GDSC Hawkathon 2026  ·  Monroe, Louisiana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91295" y="1828800"/>
            <a:ext cx="2560320" cy="2560320"/>
          </a:xfrm>
          <a:prstGeom prst="ellipse">
            <a:avLst/>
          </a:prstGeom>
          <a:solidFill>
            <a:srgbClr val="1C4E52"/>
          </a:solidFill>
          <a:ln w="12700">
            <a:solidFill>
              <a:srgbClr val="D4A2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57055" y="2194560"/>
            <a:ext cx="1828800" cy="1828800"/>
          </a:xfrm>
          <a:prstGeom prst="ellipse">
            <a:avLst/>
          </a:prstGeom>
          <a:solidFill>
            <a:srgbClr val="2E8B8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975" y="2606040"/>
            <a:ext cx="822960" cy="1005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808415" y="4526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D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Tether — Keeping Talent in Louisiana</dc:title>
  <dc:subject>PptxGenJS Presentation</dc:subject>
  <dc:creator>Team RaiCutz</dc:creator>
  <cp:lastModifiedBy>Team RaiCutz</cp:lastModifiedBy>
  <cp:revision>1</cp:revision>
  <dcterms:created xsi:type="dcterms:W3CDTF">2026-04-19T02:32:14Z</dcterms:created>
  <dcterms:modified xsi:type="dcterms:W3CDTF">2026-04-19T02:32:14Z</dcterms:modified>
</cp:coreProperties>
</file>